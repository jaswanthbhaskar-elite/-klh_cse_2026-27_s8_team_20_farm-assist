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  <p:embeddedFont>
      <p:font typeface="Open Sans Bold" panose="020B0604020202020204" charset="0"/>
      <p:regular r:id="rId12"/>
    </p:embeddedFont>
    <p:embeddedFont>
      <p:font typeface="Poppi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167A4-A6AF-4381-8308-19754E9F3C3F}" v="5" dt="2026-08-20T06:51:23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72" y="5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wanth ." userId="969a6a7619fff999" providerId="LiveId" clId="{14BA20F5-09E2-4F04-B0FC-87DADEF85DEA}"/>
    <pc:docChg chg="undo custSel modSld">
      <pc:chgData name="jaswanth ." userId="969a6a7619fff999" providerId="LiveId" clId="{14BA20F5-09E2-4F04-B0FC-87DADEF85DEA}" dt="2026-08-20T06:52:34.350" v="154"/>
      <pc:docMkLst>
        <pc:docMk/>
      </pc:docMkLst>
      <pc:sldChg chg="addSp modSp mod">
        <pc:chgData name="jaswanth ." userId="969a6a7619fff999" providerId="LiveId" clId="{14BA20F5-09E2-4F04-B0FC-87DADEF85DEA}" dt="2026-08-13T07:09:10.606" v="121" actId="1035"/>
        <pc:sldMkLst>
          <pc:docMk/>
          <pc:sldMk cId="0" sldId="256"/>
        </pc:sldMkLst>
        <pc:spChg chg="mod">
          <ac:chgData name="jaswanth ." userId="969a6a7619fff999" providerId="LiveId" clId="{14BA20F5-09E2-4F04-B0FC-87DADEF85DEA}" dt="2026-08-13T07:09:10.606" v="121" actId="1035"/>
          <ac:spMkLst>
            <pc:docMk/>
            <pc:sldMk cId="0" sldId="256"/>
            <ac:spMk id="3" creationId="{00000000-0000-0000-0000-000000000000}"/>
          </ac:spMkLst>
        </pc:spChg>
        <pc:spChg chg="mod">
          <ac:chgData name="jaswanth ." userId="969a6a7619fff999" providerId="LiveId" clId="{14BA20F5-09E2-4F04-B0FC-87DADEF85DEA}" dt="2026-08-12T09:43:05.103" v="9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swanth ." userId="969a6a7619fff999" providerId="LiveId" clId="{14BA20F5-09E2-4F04-B0FC-87DADEF85DEA}" dt="2026-08-13T06:20:54.088" v="112" actId="14100"/>
          <ac:spMkLst>
            <pc:docMk/>
            <pc:sldMk cId="0" sldId="256"/>
            <ac:spMk id="5" creationId="{00000000-0000-0000-0000-000000000000}"/>
          </ac:spMkLst>
        </pc:spChg>
        <pc:spChg chg="mod">
          <ac:chgData name="jaswanth ." userId="969a6a7619fff999" providerId="LiveId" clId="{14BA20F5-09E2-4F04-B0FC-87DADEF85DEA}" dt="2026-08-13T06:20:05.958" v="95" actId="20577"/>
          <ac:spMkLst>
            <pc:docMk/>
            <pc:sldMk cId="0" sldId="256"/>
            <ac:spMk id="6" creationId="{00000000-0000-0000-0000-000000000000}"/>
          </ac:spMkLst>
        </pc:spChg>
        <pc:picChg chg="add mod">
          <ac:chgData name="jaswanth ." userId="969a6a7619fff999" providerId="LiveId" clId="{14BA20F5-09E2-4F04-B0FC-87DADEF85DEA}" dt="2026-08-13T07:00:54.938" v="114" actId="1076"/>
          <ac:picMkLst>
            <pc:docMk/>
            <pc:sldMk cId="0" sldId="256"/>
            <ac:picMk id="8" creationId="{3EDB3B3B-6D45-612E-5EB3-F83AAFFC48FD}"/>
          </ac:picMkLst>
        </pc:picChg>
      </pc:sldChg>
      <pc:sldChg chg="modSp mod">
        <pc:chgData name="jaswanth ." userId="969a6a7619fff999" providerId="LiveId" clId="{14BA20F5-09E2-4F04-B0FC-87DADEF85DEA}" dt="2026-08-20T06:49:53.923" v="133" actId="1076"/>
        <pc:sldMkLst>
          <pc:docMk/>
          <pc:sldMk cId="0" sldId="257"/>
        </pc:sldMkLst>
        <pc:spChg chg="mod">
          <ac:chgData name="jaswanth ." userId="969a6a7619fff999" providerId="LiveId" clId="{14BA20F5-09E2-4F04-B0FC-87DADEF85DEA}" dt="2026-08-08T02:38:27.298" v="2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jaswanth ." userId="969a6a7619fff999" providerId="LiveId" clId="{14BA20F5-09E2-4F04-B0FC-87DADEF85DEA}" dt="2026-08-20T06:49:49.812" v="132" actId="20577"/>
          <ac:spMkLst>
            <pc:docMk/>
            <pc:sldMk cId="0" sldId="257"/>
            <ac:spMk id="9" creationId="{00000000-0000-0000-0000-000000000000}"/>
          </ac:spMkLst>
        </pc:spChg>
        <pc:grpChg chg="mod">
          <ac:chgData name="jaswanth ." userId="969a6a7619fff999" providerId="LiveId" clId="{14BA20F5-09E2-4F04-B0FC-87DADEF85DEA}" dt="2026-08-20T06:49:53.923" v="133" actId="1076"/>
          <ac:grpSpMkLst>
            <pc:docMk/>
            <pc:sldMk cId="0" sldId="257"/>
            <ac:grpSpMk id="5" creationId="{00000000-0000-0000-0000-000000000000}"/>
          </ac:grpSpMkLst>
        </pc:grpChg>
      </pc:sldChg>
      <pc:sldChg chg="modSp mod">
        <pc:chgData name="jaswanth ." userId="969a6a7619fff999" providerId="LiveId" clId="{14BA20F5-09E2-4F04-B0FC-87DADEF85DEA}" dt="2026-08-20T06:50:43.976" v="137" actId="20577"/>
        <pc:sldMkLst>
          <pc:docMk/>
          <pc:sldMk cId="0" sldId="258"/>
        </pc:sldMkLst>
        <pc:spChg chg="mod">
          <ac:chgData name="jaswanth ." userId="969a6a7619fff999" providerId="LiveId" clId="{14BA20F5-09E2-4F04-B0FC-87DADEF85DEA}" dt="2026-08-20T06:50:43.976" v="137" actId="20577"/>
          <ac:spMkLst>
            <pc:docMk/>
            <pc:sldMk cId="0" sldId="258"/>
            <ac:spMk id="12" creationId="{00000000-0000-0000-0000-000000000000}"/>
          </ac:spMkLst>
        </pc:spChg>
      </pc:sldChg>
      <pc:sldChg chg="delSp modSp mod">
        <pc:chgData name="jaswanth ." userId="969a6a7619fff999" providerId="LiveId" clId="{14BA20F5-09E2-4F04-B0FC-87DADEF85DEA}" dt="2026-08-20T06:52:34.350" v="154"/>
        <pc:sldMkLst>
          <pc:docMk/>
          <pc:sldMk cId="0" sldId="261"/>
        </pc:sldMkLst>
        <pc:spChg chg="mod">
          <ac:chgData name="jaswanth ." userId="969a6a7619fff999" providerId="LiveId" clId="{14BA20F5-09E2-4F04-B0FC-87DADEF85DEA}" dt="2026-08-20T06:51:38.208" v="142" actId="14100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jaswanth ." userId="969a6a7619fff999" providerId="LiveId" clId="{14BA20F5-09E2-4F04-B0FC-87DADEF85DEA}" dt="2026-08-20T06:52:34.350" v="154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jaswanth ." userId="969a6a7619fff999" providerId="LiveId" clId="{14BA20F5-09E2-4F04-B0FC-87DADEF85DEA}" dt="2026-08-20T06:52:16.556" v="149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aswanth ." userId="969a6a7619fff999" providerId="LiveId" clId="{14BA20F5-09E2-4F04-B0FC-87DADEF85DEA}" dt="2026-08-20T06:52:21.353" v="150" actId="14100"/>
          <ac:spMkLst>
            <pc:docMk/>
            <pc:sldMk cId="0" sldId="261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55B24-63C1-47A1-B795-9F2CEFD5548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CDC08-7752-40BD-A509-04DDBDA7E7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27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CDC08-7752-40BD-A509-04DDBDA7E75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175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19C26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115" y="163107"/>
            <a:ext cx="2653398" cy="1137171"/>
          </a:xfrm>
          <a:custGeom>
            <a:avLst/>
            <a:gdLst/>
            <a:ahLst/>
            <a:cxnLst/>
            <a:rect l="l" t="t" r="r" b="b"/>
            <a:pathLst>
              <a:path w="2653398" h="1137171">
                <a:moveTo>
                  <a:pt x="0" y="0"/>
                </a:moveTo>
                <a:lnTo>
                  <a:pt x="2653398" y="0"/>
                </a:lnTo>
                <a:lnTo>
                  <a:pt x="2653398" y="1137170"/>
                </a:lnTo>
                <a:lnTo>
                  <a:pt x="0" y="1137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-38100"/>
            <a:ext cx="18497954" cy="12409844"/>
          </a:xfrm>
          <a:custGeom>
            <a:avLst/>
            <a:gdLst/>
            <a:ahLst/>
            <a:cxnLst/>
            <a:rect l="l" t="t" r="r" b="b"/>
            <a:pathLst>
              <a:path w="18497954" h="12409844">
                <a:moveTo>
                  <a:pt x="0" y="0"/>
                </a:moveTo>
                <a:lnTo>
                  <a:pt x="18497954" y="0"/>
                </a:lnTo>
                <a:lnTo>
                  <a:pt x="18497954" y="12409844"/>
                </a:lnTo>
                <a:lnTo>
                  <a:pt x="0" y="12409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5" r="-3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2524701" y="-229034"/>
            <a:ext cx="13709753" cy="2964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93"/>
              </a:lnSpc>
              <a:spcBef>
                <a:spcPct val="0"/>
              </a:spcBef>
            </a:pPr>
            <a:r>
              <a:rPr lang="en-US" sz="16423" b="1" dirty="0">
                <a:solidFill>
                  <a:srgbClr val="737373"/>
                </a:solidFill>
                <a:latin typeface="Poppins Bold"/>
                <a:ea typeface="Poppins Bold"/>
                <a:cs typeface="Poppins Bold"/>
                <a:sym typeface="Poppins Bold"/>
              </a:rPr>
              <a:t>Farm Assist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65926" y="2931185"/>
            <a:ext cx="5607073" cy="768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196" dirty="0">
                <a:solidFill>
                  <a:srgbClr val="3E4414"/>
                </a:solidFill>
                <a:latin typeface="Canva Sans"/>
                <a:ea typeface="Canva Sans"/>
                <a:cs typeface="Canva Sans"/>
                <a:sym typeface="Canva Sans"/>
              </a:rPr>
              <a:t>2520030503-V Deepak</a:t>
            </a:r>
          </a:p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sz="2196" dirty="0">
                <a:solidFill>
                  <a:srgbClr val="3E4414"/>
                </a:solidFill>
                <a:latin typeface="Canva Sans"/>
                <a:ea typeface="Canva Sans"/>
                <a:cs typeface="Canva Sans"/>
                <a:sym typeface="Canva Sans"/>
              </a:rPr>
              <a:t>2520030553-B Jaswanth  Bhaskar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65927" y="4402191"/>
            <a:ext cx="4356146" cy="3894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3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 Number:  20</a:t>
            </a:r>
          </a:p>
          <a:p>
            <a:pPr algn="ctr">
              <a:lnSpc>
                <a:spcPts val="3352"/>
              </a:lnSpc>
              <a:spcBef>
                <a:spcPct val="0"/>
              </a:spcBef>
            </a:pPr>
            <a:r>
              <a:rPr lang="en-US" sz="23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Section: 8</a:t>
            </a:r>
          </a:p>
          <a:p>
            <a:pPr algn="ctr">
              <a:lnSpc>
                <a:spcPts val="3352"/>
              </a:lnSpc>
              <a:spcBef>
                <a:spcPct val="0"/>
              </a:spcBef>
            </a:pPr>
            <a:endParaRPr lang="en-US" sz="239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352"/>
              </a:lnSpc>
              <a:spcBef>
                <a:spcPct val="0"/>
              </a:spcBef>
            </a:pPr>
            <a:r>
              <a:rPr lang="en-US" sz="23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Under the guidance of</a:t>
            </a:r>
          </a:p>
          <a:p>
            <a:pPr algn="ctr">
              <a:lnSpc>
                <a:spcPts val="3352"/>
              </a:lnSpc>
              <a:spcBef>
                <a:spcPct val="0"/>
              </a:spcBef>
            </a:pPr>
            <a:endParaRPr lang="en-US" sz="239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352"/>
              </a:lnSpc>
              <a:spcBef>
                <a:spcPct val="0"/>
              </a:spcBef>
            </a:pPr>
            <a:r>
              <a:rPr lang="en-US" sz="2394" dirty="0">
                <a:solidFill>
                  <a:srgbClr val="FCFAFA"/>
                </a:solidFill>
                <a:latin typeface="Canva Sans"/>
                <a:ea typeface="Canva Sans"/>
                <a:cs typeface="Canva Sans"/>
                <a:sym typeface="Canva Sans"/>
              </a:rPr>
              <a:t>Dr. V. Sireesha</a:t>
            </a:r>
          </a:p>
          <a:p>
            <a:pPr algn="ctr">
              <a:lnSpc>
                <a:spcPts val="3352"/>
              </a:lnSpc>
              <a:spcBef>
                <a:spcPct val="0"/>
              </a:spcBef>
            </a:pPr>
            <a:r>
              <a:rPr lang="en-US" sz="2394" dirty="0">
                <a:solidFill>
                  <a:srgbClr val="FCFAFA"/>
                </a:solidFill>
                <a:latin typeface="Canva Sans"/>
                <a:ea typeface="Canva Sans"/>
                <a:cs typeface="Canva Sans"/>
                <a:sym typeface="Canva Sans"/>
              </a:rPr>
              <a:t>Professor, Department of CSE</a:t>
            </a:r>
          </a:p>
          <a:p>
            <a:pPr algn="ctr">
              <a:lnSpc>
                <a:spcPts val="3352"/>
              </a:lnSpc>
              <a:spcBef>
                <a:spcPct val="0"/>
              </a:spcBef>
            </a:pPr>
            <a:endParaRPr lang="en-US" sz="2394" dirty="0">
              <a:solidFill>
                <a:srgbClr val="FCFAF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DB3B3B-6D45-612E-5EB3-F83AAFFC48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15" y="667280"/>
            <a:ext cx="27336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9258300"/>
            <a:ext cx="1028700" cy="10287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19C2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20515"/>
            <a:ext cx="18288000" cy="10287000"/>
            <a:chOff x="0" y="0"/>
            <a:chExt cx="24384000" cy="13716000"/>
          </a:xfrm>
        </p:grpSpPr>
        <p:sp>
          <p:nvSpPr>
            <p:cNvPr id="6" name="AutoShape 6"/>
            <p:cNvSpPr/>
            <p:nvPr/>
          </p:nvSpPr>
          <p:spPr>
            <a:xfrm>
              <a:off x="0" y="0"/>
              <a:ext cx="24384000" cy="13716000"/>
            </a:xfrm>
            <a:prstGeom prst="rect">
              <a:avLst/>
            </a:pr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413153" y="9638067"/>
            <a:ext cx="72099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1951" y="914400"/>
            <a:ext cx="3924449" cy="1028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Abstract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0991" y="2668970"/>
            <a:ext cx="10245118" cy="406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Farm Assist</a:t>
            </a:r>
            <a:r>
              <a:rPr lang="en-IN" sz="2400" dirty="0">
                <a:solidFill>
                  <a:schemeClr val="bg1"/>
                </a:solidFill>
              </a:rPr>
              <a:t> is a Java-based application designed to provide farmers with quick access to information about crops, plant diseases, fertilizers, and cultivation techniques.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The project focuses on advanced Data Structures and Algorithms. KMP and Rabin-Karp algorithms enable fast keyword searching, while Dynamic Programming helps generate optimal crop recommendations.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Network flow algorithms can also support efficient fertilizer allocation under limited resources. Overall, Farm Assist demonstrates the practical use of advanced DSA concepts through a simple and user-friendly Java application.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338413" y="2329851"/>
            <a:ext cx="5074740" cy="5074740"/>
            <a:chOff x="0" y="0"/>
            <a:chExt cx="6766320" cy="6766320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2"/>
            <a:srcRect l="33750"/>
            <a:stretch>
              <a:fillRect/>
            </a:stretch>
          </p:blipFill>
          <p:spPr>
            <a:xfrm>
              <a:off x="0" y="0"/>
              <a:ext cx="6766320" cy="67663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9258300"/>
            <a:ext cx="1028700" cy="10287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19C2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413153" y="9638067"/>
            <a:ext cx="72099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323938" y="5257585"/>
            <a:ext cx="5935362" cy="4000715"/>
            <a:chOff x="0" y="0"/>
            <a:chExt cx="7913815" cy="5334287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/>
            <a:srcRect l="6754" r="6754" b="12496"/>
            <a:stretch>
              <a:fillRect/>
            </a:stretch>
          </p:blipFill>
          <p:spPr>
            <a:xfrm>
              <a:off x="0" y="0"/>
              <a:ext cx="7913815" cy="5334287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11323938" y="1028700"/>
            <a:ext cx="5935362" cy="4000715"/>
            <a:chOff x="0" y="0"/>
            <a:chExt cx="7913815" cy="5334287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rcRect l="578" r="578"/>
            <a:stretch>
              <a:fillRect/>
            </a:stretch>
          </p:blipFill>
          <p:spPr>
            <a:xfrm>
              <a:off x="0" y="0"/>
              <a:ext cx="7913815" cy="5334287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2079970" y="672970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0" y="602658"/>
            <a:ext cx="9287909" cy="1028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5379" y="2596317"/>
            <a:ext cx="9480466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IN" sz="2400" dirty="0"/>
              <a:t>Farmers face difficulty in quickly finding reliable information about </a:t>
            </a:r>
            <a:r>
              <a:rPr lang="en-IN" sz="2400" b="1" dirty="0"/>
              <a:t>crops, diseases, fertilizers, and cultivation practices</a:t>
            </a:r>
            <a:r>
              <a:rPr lang="en-IN" sz="2400" dirty="0"/>
              <a:t>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Searching through large agricultural datasets using basic methods can be </a:t>
            </a:r>
            <a:r>
              <a:rPr lang="en-IN" sz="2400" b="1" dirty="0"/>
              <a:t>slow and inefficient</a:t>
            </a:r>
            <a:r>
              <a:rPr lang="en-IN" sz="2400" dirty="0"/>
              <a:t>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Farmers need better support for </a:t>
            </a:r>
            <a:r>
              <a:rPr lang="en-IN" sz="2400" b="1" dirty="0"/>
              <a:t>crop selection and decision-making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Limited agricultural resources require </a:t>
            </a:r>
            <a:r>
              <a:rPr lang="en-IN" sz="2400" b="1" dirty="0"/>
              <a:t>efficient allocation and optimization</a:t>
            </a:r>
            <a:r>
              <a:rPr lang="en-IN" sz="2400" dirty="0"/>
              <a:t>. 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Farm Assist</a:t>
            </a:r>
            <a:r>
              <a:rPr lang="en-IN" sz="2400" dirty="0"/>
              <a:t> addresses these problems using advanced algorithms such as </a:t>
            </a:r>
            <a:r>
              <a:rPr lang="en-IN" sz="2400" b="1" dirty="0"/>
              <a:t>KMP, Rabin-Karp, Dynamic Programming, and Network Flow</a:t>
            </a:r>
            <a:r>
              <a:rPr lang="en-IN" sz="2400" dirty="0"/>
              <a:t> for faster searching, optimization, and resource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A6A">
                <a:alpha val="100000"/>
              </a:srgbClr>
            </a:gs>
            <a:gs pos="100000">
              <a:srgbClr val="FFF7DE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9258300"/>
            <a:ext cx="1028700" cy="10287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19C2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413153" y="9638067"/>
            <a:ext cx="72099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318960" y="2176525"/>
            <a:ext cx="6200787" cy="6246762"/>
            <a:chOff x="0" y="0"/>
            <a:chExt cx="8267716" cy="8329016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/>
            <a:srcRect l="24871" t="32494" r="24871"/>
            <a:stretch>
              <a:fillRect/>
            </a:stretch>
          </p:blipFill>
          <p:spPr>
            <a:xfrm>
              <a:off x="0" y="0"/>
              <a:ext cx="8267716" cy="8329016"/>
            </a:xfrm>
            <a:prstGeom prst="rect">
              <a:avLst/>
            </a:prstGeom>
          </p:spPr>
        </p:pic>
      </p:grpSp>
      <p:sp>
        <p:nvSpPr>
          <p:cNvPr id="8" name="TextBox 8"/>
          <p:cNvSpPr txBox="1"/>
          <p:nvPr/>
        </p:nvSpPr>
        <p:spPr>
          <a:xfrm>
            <a:off x="-384934" y="617665"/>
            <a:ext cx="10361305" cy="74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32"/>
              </a:lnSpc>
              <a:spcBef>
                <a:spcPct val="0"/>
              </a:spcBef>
            </a:pPr>
            <a:r>
              <a:rPr lang="en-US" sz="44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Functionalities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9863" y="2128900"/>
            <a:ext cx="9845592" cy="795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3841" lvl="1" indent="-256921" algn="l">
              <a:lnSpc>
                <a:spcPts val="3331"/>
              </a:lnSpc>
              <a:spcBef>
                <a:spcPct val="0"/>
              </a:spcBef>
              <a:buFont typeface="Arial"/>
              <a:buChar char="•"/>
            </a:pPr>
            <a:r>
              <a:rPr lang="en-US" sz="237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Agricultural Information Search: Allow users to search for crops, diseases, fertilizers, and cultivation techniques using efficient string-matching algorithms such as KMP and Rabin-Karp.</a:t>
            </a:r>
          </a:p>
          <a:p>
            <a:pPr marL="513841" lvl="1" indent="-256921" algn="l">
              <a:lnSpc>
                <a:spcPts val="3331"/>
              </a:lnSpc>
              <a:spcBef>
                <a:spcPct val="0"/>
              </a:spcBef>
              <a:buFont typeface="Arial"/>
              <a:buChar char="•"/>
            </a:pPr>
            <a:r>
              <a:rPr lang="en-US" sz="237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Crop Recommendation: Recommend suitable crops based on factors such as land area, budget, water availability, and expected yield using Dynamic Programming.</a:t>
            </a:r>
          </a:p>
          <a:p>
            <a:pPr marL="513841" lvl="1" indent="-256921" algn="l">
              <a:lnSpc>
                <a:spcPts val="3331"/>
              </a:lnSpc>
              <a:spcBef>
                <a:spcPct val="0"/>
              </a:spcBef>
              <a:buFont typeface="Arial"/>
              <a:buChar char="•"/>
            </a:pPr>
            <a:r>
              <a:rPr lang="en-US" sz="237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Disease Identification: Search agricultural symptoms and match them with relevant plant diseases and possible treatments.</a:t>
            </a:r>
          </a:p>
          <a:p>
            <a:pPr marL="513841" lvl="1" indent="-256921" algn="l">
              <a:lnSpc>
                <a:spcPts val="3331"/>
              </a:lnSpc>
              <a:spcBef>
                <a:spcPct val="0"/>
              </a:spcBef>
              <a:buFont typeface="Arial"/>
              <a:buChar char="•"/>
            </a:pPr>
            <a:r>
              <a:rPr lang="en-US" sz="237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Fertilizer Resource Allocation: Determine an efficient allocation of limited fertilizer resources among different requirements using Network Flow algorithms such as Ford-Fulkerson/Edmonds-Karp.</a:t>
            </a:r>
          </a:p>
          <a:p>
            <a:pPr marL="513841" lvl="1" indent="-256921" algn="l">
              <a:lnSpc>
                <a:spcPts val="3331"/>
              </a:lnSpc>
              <a:spcBef>
                <a:spcPct val="0"/>
              </a:spcBef>
              <a:buFont typeface="Arial"/>
              <a:buChar char="•"/>
            </a:pPr>
            <a:r>
              <a:rPr lang="en-US" sz="237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Efficient Data Handling: Organize agricultural information using appropriate Java data structures to support fast searching and processing.</a:t>
            </a:r>
          </a:p>
          <a:p>
            <a:pPr marL="513841" lvl="1" indent="-256921" algn="l">
              <a:lnSpc>
                <a:spcPts val="3331"/>
              </a:lnSpc>
              <a:spcBef>
                <a:spcPct val="0"/>
              </a:spcBef>
              <a:buFont typeface="Arial"/>
              <a:buChar char="•"/>
            </a:pPr>
            <a:r>
              <a:rPr lang="en-US" sz="237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Simple Java Interface: Provide a user-friendly menu-driven interface through which farmers can access the different functionalities</a:t>
            </a:r>
          </a:p>
          <a:p>
            <a:pPr algn="ctr">
              <a:lnSpc>
                <a:spcPts val="3331"/>
              </a:lnSpc>
              <a:spcBef>
                <a:spcPct val="0"/>
              </a:spcBef>
            </a:pPr>
            <a:endParaRPr lang="en-US" sz="237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9258300"/>
            <a:ext cx="1028700" cy="10287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19C2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413153" y="9638067"/>
            <a:ext cx="72099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54597" y="192761"/>
            <a:ext cx="4968145" cy="4754956"/>
            <a:chOff x="0" y="0"/>
            <a:chExt cx="6624194" cy="6339942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/>
            <a:srcRect l="29999" t="2145" b="2145"/>
            <a:stretch>
              <a:fillRect/>
            </a:stretch>
          </p:blipFill>
          <p:spPr>
            <a:xfrm>
              <a:off x="0" y="0"/>
              <a:ext cx="6624194" cy="6339942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248002" y="5102942"/>
            <a:ext cx="5074740" cy="5074740"/>
            <a:chOff x="0" y="0"/>
            <a:chExt cx="6766320" cy="6766320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rcRect l="11577" r="32172"/>
            <a:stretch>
              <a:fillRect/>
            </a:stretch>
          </p:blipFill>
          <p:spPr>
            <a:xfrm>
              <a:off x="0" y="0"/>
              <a:ext cx="6766320" cy="6766320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6898477" y="448432"/>
            <a:ext cx="6743474" cy="1460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2"/>
              </a:lnSpc>
            </a:pPr>
            <a:r>
              <a:rPr lang="en-US" sz="4400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Tools and Technologies to be used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50422" y="3487922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81493" y="7794577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422" y="2118840"/>
            <a:ext cx="8781086" cy="765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0245" lvl="1" indent="-235123" algn="l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Programming Language: Java</a:t>
            </a:r>
          </a:p>
          <a:p>
            <a:pPr marL="470245" lvl="1" indent="-235123" algn="l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JDK: Java Development Kit (JDK 17 or above)</a:t>
            </a:r>
          </a:p>
          <a:p>
            <a:pPr marL="470245" lvl="1" indent="-235123" algn="l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IDE: IntelliJ IDEA / Eclipse / Visual Studio Code</a:t>
            </a:r>
          </a:p>
          <a:p>
            <a:pPr marL="470245" lvl="1" indent="-235123" algn="l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 Collections Framework: ArrayList, HashMap, HashSet, Queue, Stack, PriorityQueue, etc., wherever required</a:t>
            </a:r>
          </a:p>
          <a:p>
            <a:pPr marL="470245" lvl="1" indent="-235123" algn="l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File Handling: Java File I/O for storing and retrieving agricultural datasets</a:t>
            </a:r>
          </a:p>
          <a:p>
            <a:pPr marL="470245" lvl="1" indent="-235123" algn="l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String Processing: KMP, Z-Function, and Rabin-Karp with Rolling Hash for efficient pattern matching</a:t>
            </a:r>
          </a:p>
          <a:p>
            <a:pPr marL="470245" lvl="1" indent="-235123" algn="l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Dynamic Programming: Interval DP, Subset/Bitmask DP, and other suitable DP techniques for optimization</a:t>
            </a:r>
          </a:p>
          <a:p>
            <a:pPr marL="470245" lvl="1" indent="-235123" algn="l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Graph Algorithms: Graph representation using adjacency lists and Network Flow algorithms such as Ford-Fulkerson/Edmonds-Karp</a:t>
            </a:r>
          </a:p>
          <a:p>
            <a:pPr marL="470245" lvl="1" indent="-235123" algn="l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Randomized Algorithms: Monte Carlo/Las Vegas techniques where applicable</a:t>
            </a:r>
          </a:p>
          <a:p>
            <a:pPr marL="470245" lvl="1" indent="-235123" algn="l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Algorithm Analysis: Time and space complexity analysis using Big-O notation</a:t>
            </a:r>
          </a:p>
          <a:p>
            <a:pPr marL="470245" lvl="1" indent="-235123" algn="l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Version Control: Git and GitHub for source-code management</a:t>
            </a:r>
          </a:p>
          <a:p>
            <a:pPr algn="l">
              <a:lnSpc>
                <a:spcPts val="3049"/>
              </a:lnSpc>
              <a:spcBef>
                <a:spcPct val="0"/>
              </a:spcBef>
            </a:pPr>
            <a:endParaRPr lang="en-US" sz="217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9258300"/>
            <a:ext cx="1028700" cy="10287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19C2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413153" y="9638067"/>
            <a:ext cx="72099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898530" y="1028700"/>
            <a:ext cx="5360770" cy="8229600"/>
            <a:chOff x="0" y="0"/>
            <a:chExt cx="7147693" cy="1097280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/>
            <a:srcRect l="11854" r="44705"/>
            <a:stretch>
              <a:fillRect/>
            </a:stretch>
          </p:blipFill>
          <p:spPr>
            <a:xfrm>
              <a:off x="0" y="0"/>
              <a:ext cx="7147693" cy="10972800"/>
            </a:xfrm>
            <a:prstGeom prst="rect">
              <a:avLst/>
            </a:prstGeom>
          </p:spPr>
        </p:pic>
      </p:grpSp>
      <p:sp>
        <p:nvSpPr>
          <p:cNvPr id="8" name="TextBox 8"/>
          <p:cNvSpPr txBox="1"/>
          <p:nvPr/>
        </p:nvSpPr>
        <p:spPr>
          <a:xfrm>
            <a:off x="1616920" y="952500"/>
            <a:ext cx="6460280" cy="696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32"/>
              </a:lnSpc>
            </a:pPr>
            <a:r>
              <a:rPr lang="en-US" sz="4400" b="1" dirty="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Outcome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6920" y="2830519"/>
            <a:ext cx="9584480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IN" sz="2400" dirty="0"/>
              <a:t>Provides an </a:t>
            </a:r>
            <a:r>
              <a:rPr lang="en-IN" sz="2400" b="1" dirty="0"/>
              <a:t>efficient Java-based platform</a:t>
            </a:r>
            <a:r>
              <a:rPr lang="en-IN" sz="2400" dirty="0"/>
              <a:t> for agricultural information. </a:t>
            </a:r>
          </a:p>
          <a:p>
            <a:pPr lvl="0"/>
            <a:r>
              <a:rPr lang="en-IN" sz="2400" dirty="0"/>
              <a:t>Enables </a:t>
            </a:r>
            <a:r>
              <a:rPr lang="en-IN" sz="2400" b="1" dirty="0"/>
              <a:t>fast searching</a:t>
            </a:r>
            <a:r>
              <a:rPr lang="en-IN" sz="2400" dirty="0"/>
              <a:t> of crop, disease, fertilizer, and cultivation details.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Uses </a:t>
            </a:r>
            <a:r>
              <a:rPr lang="en-IN" sz="2400" b="1" dirty="0"/>
              <a:t>KMP and Rabin-Karp algorithms</a:t>
            </a:r>
            <a:r>
              <a:rPr lang="en-IN" sz="2400" dirty="0"/>
              <a:t> for efficient information retrieval. </a:t>
            </a:r>
          </a:p>
          <a:p>
            <a:pPr lvl="0"/>
            <a:r>
              <a:rPr lang="en-IN" sz="2400" dirty="0"/>
              <a:t>Provides </a:t>
            </a:r>
            <a:r>
              <a:rPr lang="en-IN" sz="2400" b="1" dirty="0"/>
              <a:t>optimized crop recommendations</a:t>
            </a:r>
            <a:r>
              <a:rPr lang="en-IN" sz="2400" dirty="0"/>
              <a:t> using Dynamic Programming.</a:t>
            </a:r>
          </a:p>
          <a:p>
            <a:pPr lvl="0"/>
            <a:r>
              <a:rPr lang="en-IN" sz="2400" dirty="0"/>
              <a:t> </a:t>
            </a:r>
          </a:p>
          <a:p>
            <a:pPr lvl="0"/>
            <a:r>
              <a:rPr lang="en-IN" sz="2400" dirty="0"/>
              <a:t>Uses </a:t>
            </a:r>
            <a:r>
              <a:rPr lang="en-IN" sz="2400" b="1" dirty="0"/>
              <a:t>Network Flow algorithms</a:t>
            </a:r>
            <a:r>
              <a:rPr lang="en-IN" sz="2400" dirty="0"/>
              <a:t> for efficient resource allocation. </a:t>
            </a:r>
          </a:p>
          <a:p>
            <a:pPr lvl="0"/>
            <a:r>
              <a:rPr lang="en-IN" sz="2400" dirty="0"/>
              <a:t>Improves </a:t>
            </a:r>
            <a:r>
              <a:rPr lang="en-IN" sz="2400" b="1" dirty="0"/>
              <a:t>search speed, decision-making, and resource management</a:t>
            </a:r>
            <a:r>
              <a:rPr lang="en-IN" sz="2400" dirty="0"/>
              <a:t>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Demonstrates the practical application of </a:t>
            </a:r>
            <a:r>
              <a:rPr lang="en-IN" sz="2400" b="1" dirty="0"/>
              <a:t>advanced DSA concepts</a:t>
            </a:r>
            <a:r>
              <a:rPr lang="en-IN" sz="2400" dirty="0"/>
              <a:t> in agriculture.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19C26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9258300"/>
            <a:ext cx="1028700" cy="10287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19C2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93232" y="3064381"/>
            <a:ext cx="15101537" cy="3272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27"/>
              </a:lnSpc>
              <a:spcBef>
                <a:spcPct val="0"/>
              </a:spcBef>
            </a:pPr>
            <a:r>
              <a:rPr lang="en-US" sz="1809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>
            <a:off x="1593232" y="898368"/>
            <a:ext cx="2653398" cy="1137171"/>
          </a:xfrm>
          <a:custGeom>
            <a:avLst/>
            <a:gdLst/>
            <a:ahLst/>
            <a:cxnLst/>
            <a:rect l="l" t="t" r="r" b="b"/>
            <a:pathLst>
              <a:path w="2653398" h="1137171">
                <a:moveTo>
                  <a:pt x="0" y="0"/>
                </a:moveTo>
                <a:lnTo>
                  <a:pt x="2653398" y="0"/>
                </a:lnTo>
                <a:lnTo>
                  <a:pt x="2653398" y="1137170"/>
                </a:lnTo>
                <a:lnTo>
                  <a:pt x="0" y="1137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7413153" y="9638067"/>
            <a:ext cx="720994" cy="240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570</Words>
  <Application>Microsoft Office PowerPoint</Application>
  <PresentationFormat>Custom</PresentationFormat>
  <Paragraphs>66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Canva Sans</vt:lpstr>
      <vt:lpstr>Canva Sans Bold</vt:lpstr>
      <vt:lpstr>Aptos</vt:lpstr>
      <vt:lpstr>Poppins Bold</vt:lpstr>
      <vt:lpstr>Open Sans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Modern Agriculture Presentation</dc:title>
  <cp:lastModifiedBy>jaswanth .</cp:lastModifiedBy>
  <cp:revision>1</cp:revision>
  <dcterms:created xsi:type="dcterms:W3CDTF">2006-08-16T00:00:00Z</dcterms:created>
  <dcterms:modified xsi:type="dcterms:W3CDTF">2026-08-20T06:52:40Z</dcterms:modified>
  <dc:identifier>DAHRfvTQm7k</dc:identifier>
</cp:coreProperties>
</file>